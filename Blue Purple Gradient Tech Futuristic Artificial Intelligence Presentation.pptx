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Semi-Bold" charset="1" panose="00000700000000000000"/>
      <p:regular r:id="rId13"/>
    </p:embeddedFont>
    <p:embeddedFont>
      <p:font typeface="DM Sans Bold" charset="1" panose="00000000000000000000"/>
      <p:regular r:id="rId14"/>
    </p:embeddedFont>
    <p:embeddedFont>
      <p:font typeface="Raleway Italics" charset="1" panose="00000000000000000000"/>
      <p:regular r:id="rId15"/>
    </p:embeddedFont>
    <p:embeddedFont>
      <p:font typeface="Mokoto" charset="1" panose="00000000000000000000"/>
      <p:regular r:id="rId16"/>
    </p:embeddedFont>
    <p:embeddedFont>
      <p:font typeface="Montserrat Heavy" charset="1" panose="00000A00000000000000"/>
      <p:regular r:id="rId17"/>
    </p:embeddedFont>
    <p:embeddedFont>
      <p:font typeface="Montserrat Medium" charset="1" panose="000006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74092">
            <a:off x="-3513169" y="833962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828919">
            <a:off x="1076036" y="-481941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6543" y="1776216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76543" y="3354279"/>
            <a:ext cx="9506012" cy="40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9"/>
              </a:lnSpc>
            </a:pPr>
            <a:r>
              <a:rPr lang="en-US" sz="1106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Spam-Filter (Naive Bayes Classifier)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64" y="4906218"/>
            <a:ext cx="3427871" cy="787875"/>
            <a:chOff x="0" y="0"/>
            <a:chExt cx="4570495" cy="10505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570495" cy="1050500"/>
              <a:chOff x="0" y="0"/>
              <a:chExt cx="1768157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76815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68157">
                    <a:moveTo>
                      <a:pt x="1564957" y="0"/>
                    </a:moveTo>
                    <a:cubicBezTo>
                      <a:pt x="1677182" y="0"/>
                      <a:pt x="1768157" y="90976"/>
                      <a:pt x="1768157" y="203200"/>
                    </a:cubicBezTo>
                    <a:cubicBezTo>
                      <a:pt x="1768157" y="315424"/>
                      <a:pt x="1677182" y="406400"/>
                      <a:pt x="1564957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2A64">
                      <a:alpha val="100000"/>
                    </a:srgbClr>
                  </a:gs>
                  <a:gs pos="100000">
                    <a:srgbClr val="414C94">
                      <a:alpha val="100000"/>
                    </a:srgbClr>
                  </a:gs>
                </a:gsLst>
                <a:lin ang="0"/>
              </a:gra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76815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3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3105087" y="435703"/>
              <a:ext cx="492779" cy="232950"/>
            </a:xfrm>
            <a:custGeom>
              <a:avLst/>
              <a:gdLst/>
              <a:ahLst/>
              <a:cxnLst/>
              <a:rect r="r" b="b" t="t" l="l"/>
              <a:pathLst>
                <a:path h="232950" w="492779">
                  <a:moveTo>
                    <a:pt x="0" y="0"/>
                  </a:moveTo>
                  <a:lnTo>
                    <a:pt x="492780" y="0"/>
                  </a:lnTo>
                  <a:lnTo>
                    <a:pt x="492780" y="232950"/>
                  </a:lnTo>
                  <a:lnTo>
                    <a:pt x="0" y="23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799410" y="397587"/>
              <a:ext cx="2025319" cy="356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99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next slide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47841" y="1950097"/>
            <a:ext cx="2493294" cy="30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thynk unlimited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76543" y="7622986"/>
            <a:ext cx="5482510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3682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Development of an SMS Message Classification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72293">
            <a:off x="-5799371" y="6668368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2822" y="3071015"/>
            <a:ext cx="3970782" cy="8229600"/>
          </a:xfrm>
          <a:custGeom>
            <a:avLst/>
            <a:gdLst/>
            <a:ahLst/>
            <a:cxnLst/>
            <a:rect r="r" b="b" t="t" l="l"/>
            <a:pathLst>
              <a:path h="8229600" w="3970782">
                <a:moveTo>
                  <a:pt x="0" y="0"/>
                </a:moveTo>
                <a:lnTo>
                  <a:pt x="3970782" y="0"/>
                </a:lnTo>
                <a:lnTo>
                  <a:pt x="39707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5575" y="2080415"/>
            <a:ext cx="2691369" cy="2691369"/>
          </a:xfrm>
          <a:custGeom>
            <a:avLst/>
            <a:gdLst/>
            <a:ahLst/>
            <a:cxnLst/>
            <a:rect r="r" b="b" t="t" l="l"/>
            <a:pathLst>
              <a:path h="2691369" w="2691369">
                <a:moveTo>
                  <a:pt x="0" y="0"/>
                </a:moveTo>
                <a:lnTo>
                  <a:pt x="2691368" y="0"/>
                </a:lnTo>
                <a:lnTo>
                  <a:pt x="2691368" y="2691368"/>
                </a:lnTo>
                <a:lnTo>
                  <a:pt x="0" y="269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1572293">
            <a:off x="8920761" y="-349485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71589" y="1776216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42887" y="1950097"/>
            <a:ext cx="2493294" cy="30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thynk unlimited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45523" y="3123240"/>
            <a:ext cx="8419656" cy="11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main goal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98463" y="4365836"/>
            <a:ext cx="9313777" cy="460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Разработать модель: Создать классификатор, который может определять, является ли входящее SMS-сообщение спамом или обычным сообщением (ham).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Использовать</a:t>
            </a: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алгоритм: Реализовать эту классификацию с помощью алгоритма Наивного Байеса (Naive Bayes).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Достичь</a:t>
            </a: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требуемой точности: Обеспечить, чтобы точность классификации (Accuracy) была более 95% на валидационном и тестовом наборах данных.</a:t>
            </a:r>
          </a:p>
          <a:p>
            <a:pPr algn="l">
              <a:lnSpc>
                <a:spcPts val="33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00724" y="1599114"/>
            <a:ext cx="1074675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480054" y="8864362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808869" y="9191140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5" y="0"/>
                </a:lnTo>
                <a:lnTo>
                  <a:pt x="369585" y="174712"/>
                </a:lnTo>
                <a:lnTo>
                  <a:pt x="0" y="17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535" y="3295279"/>
            <a:ext cx="5029943" cy="6356958"/>
          </a:xfrm>
          <a:custGeom>
            <a:avLst/>
            <a:gdLst/>
            <a:ahLst/>
            <a:cxnLst/>
            <a:rect r="r" b="b" t="t" l="l"/>
            <a:pathLst>
              <a:path h="6356958" w="5029943">
                <a:moveTo>
                  <a:pt x="0" y="0"/>
                </a:moveTo>
                <a:lnTo>
                  <a:pt x="5029943" y="0"/>
                </a:lnTo>
                <a:lnTo>
                  <a:pt x="5029943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95369" y="3589487"/>
            <a:ext cx="9752797" cy="5668813"/>
          </a:xfrm>
          <a:custGeom>
            <a:avLst/>
            <a:gdLst/>
            <a:ahLst/>
            <a:cxnLst/>
            <a:rect r="r" b="b" t="t" l="l"/>
            <a:pathLst>
              <a:path h="5668813" w="9752797">
                <a:moveTo>
                  <a:pt x="0" y="0"/>
                </a:moveTo>
                <a:lnTo>
                  <a:pt x="9752797" y="0"/>
                </a:lnTo>
                <a:lnTo>
                  <a:pt x="9752797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079611" y="9174459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61325" y="1228725"/>
            <a:ext cx="9965350" cy="21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Preparation (dataset.py)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724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46705" y="1754108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6" y="0"/>
                </a:lnTo>
                <a:lnTo>
                  <a:pt x="658166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2956" y="6582619"/>
            <a:ext cx="1785236" cy="1785236"/>
          </a:xfrm>
          <a:custGeom>
            <a:avLst/>
            <a:gdLst/>
            <a:ahLst/>
            <a:cxnLst/>
            <a:rect r="r" b="b" t="t" l="l"/>
            <a:pathLst>
              <a:path h="1785236" w="1785236">
                <a:moveTo>
                  <a:pt x="0" y="0"/>
                </a:moveTo>
                <a:lnTo>
                  <a:pt x="1785235" y="0"/>
                </a:lnTo>
                <a:lnTo>
                  <a:pt x="1785235" y="1785235"/>
                </a:lnTo>
                <a:lnTo>
                  <a:pt x="0" y="1785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21" y="564812"/>
            <a:ext cx="1785236" cy="1785236"/>
          </a:xfrm>
          <a:custGeom>
            <a:avLst/>
            <a:gdLst/>
            <a:ahLst/>
            <a:cxnLst/>
            <a:rect r="r" b="b" t="t" l="l"/>
            <a:pathLst>
              <a:path h="1785236" w="1785236">
                <a:moveTo>
                  <a:pt x="0" y="0"/>
                </a:moveTo>
                <a:lnTo>
                  <a:pt x="1785236" y="0"/>
                </a:lnTo>
                <a:lnTo>
                  <a:pt x="1785236" y="1785236"/>
                </a:lnTo>
                <a:lnTo>
                  <a:pt x="0" y="1785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52145" y="3680648"/>
            <a:ext cx="11301259" cy="2274378"/>
          </a:xfrm>
          <a:custGeom>
            <a:avLst/>
            <a:gdLst/>
            <a:ahLst/>
            <a:cxnLst/>
            <a:rect r="r" b="b" t="t" l="l"/>
            <a:pathLst>
              <a:path h="2274378" w="11301259">
                <a:moveTo>
                  <a:pt x="0" y="0"/>
                </a:moveTo>
                <a:lnTo>
                  <a:pt x="11301259" y="0"/>
                </a:lnTo>
                <a:lnTo>
                  <a:pt x="11301259" y="2274378"/>
                </a:lnTo>
                <a:lnTo>
                  <a:pt x="0" y="22743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18002" y="6582619"/>
            <a:ext cx="11301259" cy="2924201"/>
          </a:xfrm>
          <a:custGeom>
            <a:avLst/>
            <a:gdLst/>
            <a:ahLst/>
            <a:cxnLst/>
            <a:rect r="r" b="b" t="t" l="l"/>
            <a:pathLst>
              <a:path h="2924201" w="11301259">
                <a:moveTo>
                  <a:pt x="0" y="0"/>
                </a:moveTo>
                <a:lnTo>
                  <a:pt x="11301259" y="0"/>
                </a:lnTo>
                <a:lnTo>
                  <a:pt x="11301259" y="2924200"/>
                </a:lnTo>
                <a:lnTo>
                  <a:pt x="0" y="2924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18002" y="1927989"/>
            <a:ext cx="2493294" cy="30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thynk unlimited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4928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550073"/>
            <a:ext cx="9176274" cy="213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Prediction and Smoothing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2831">
            <a:off x="-183072" y="90349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438710">
            <a:off x="-4529841" y="-557315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481" y="1365543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08566" y="2057400"/>
            <a:ext cx="9272016" cy="8229600"/>
          </a:xfrm>
          <a:custGeom>
            <a:avLst/>
            <a:gdLst/>
            <a:ahLst/>
            <a:cxnLst/>
            <a:rect r="r" b="b" t="t" l="l"/>
            <a:pathLst>
              <a:path h="8229600" w="9272016">
                <a:moveTo>
                  <a:pt x="0" y="0"/>
                </a:moveTo>
                <a:lnTo>
                  <a:pt x="9272016" y="0"/>
                </a:lnTo>
                <a:lnTo>
                  <a:pt x="92720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63450" y="2806763"/>
            <a:ext cx="9965350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63450" y="4074874"/>
            <a:ext cx="9705631" cy="41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Title: Testing Results and Requirement Fulfillment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54474" y="2209800"/>
            <a:ext cx="9272016" cy="8229600"/>
          </a:xfrm>
          <a:custGeom>
            <a:avLst/>
            <a:gdLst/>
            <a:ahLst/>
            <a:cxnLst/>
            <a:rect r="r" b="b" t="t" l="l"/>
            <a:pathLst>
              <a:path h="8229600" w="9272016">
                <a:moveTo>
                  <a:pt x="0" y="0"/>
                </a:moveTo>
                <a:lnTo>
                  <a:pt x="9272016" y="0"/>
                </a:lnTo>
                <a:lnTo>
                  <a:pt x="92720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50955" y="4999536"/>
            <a:ext cx="6554121" cy="3850546"/>
          </a:xfrm>
          <a:custGeom>
            <a:avLst/>
            <a:gdLst/>
            <a:ahLst/>
            <a:cxnLst/>
            <a:rect r="r" b="b" t="t" l="l"/>
            <a:pathLst>
              <a:path h="3850546" w="6554121">
                <a:moveTo>
                  <a:pt x="0" y="0"/>
                </a:moveTo>
                <a:lnTo>
                  <a:pt x="6554121" y="0"/>
                </a:lnTo>
                <a:lnTo>
                  <a:pt x="6554121" y="3850546"/>
                </a:lnTo>
                <a:lnTo>
                  <a:pt x="0" y="3850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05779" y="1539425"/>
            <a:ext cx="2493294" cy="30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thynk unlimited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724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24512" y="1754108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6" y="0"/>
                </a:lnTo>
                <a:lnTo>
                  <a:pt x="658166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81151" y="1870839"/>
            <a:ext cx="6809994" cy="8229600"/>
          </a:xfrm>
          <a:custGeom>
            <a:avLst/>
            <a:gdLst/>
            <a:ahLst/>
            <a:cxnLst/>
            <a:rect r="r" b="b" t="t" l="l"/>
            <a:pathLst>
              <a:path h="8229600" w="6809994">
                <a:moveTo>
                  <a:pt x="0" y="0"/>
                </a:moveTo>
                <a:lnTo>
                  <a:pt x="6809994" y="0"/>
                </a:lnTo>
                <a:lnTo>
                  <a:pt x="68099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95809" y="1927989"/>
            <a:ext cx="2493294" cy="30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thynk unlimited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28654" y="4461238"/>
            <a:ext cx="9176274" cy="11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project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4928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197" y="7069581"/>
            <a:ext cx="19517450" cy="2188719"/>
            <a:chOff x="0" y="0"/>
            <a:chExt cx="5140398" cy="576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40398" cy="576453"/>
            </a:xfrm>
            <a:custGeom>
              <a:avLst/>
              <a:gdLst/>
              <a:ahLst/>
              <a:cxnLst/>
              <a:rect r="r" b="b" t="t" l="l"/>
              <a:pathLst>
                <a:path h="576453" w="5140398">
                  <a:moveTo>
                    <a:pt x="0" y="0"/>
                  </a:moveTo>
                  <a:lnTo>
                    <a:pt x="5140398" y="0"/>
                  </a:lnTo>
                  <a:lnTo>
                    <a:pt x="5140398" y="576453"/>
                  </a:lnTo>
                  <a:lnTo>
                    <a:pt x="0" y="576453"/>
                  </a:lnTo>
                  <a:close/>
                </a:path>
              </a:pathLst>
            </a:custGeom>
            <a:solidFill>
              <a:srgbClr val="012130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140398" cy="605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647679">
            <a:off x="5750070" y="2254213"/>
            <a:ext cx="27455017" cy="10021081"/>
          </a:xfrm>
          <a:custGeom>
            <a:avLst/>
            <a:gdLst/>
            <a:ahLst/>
            <a:cxnLst/>
            <a:rect r="r" b="b" t="t" l="l"/>
            <a:pathLst>
              <a:path h="10021081" w="27455017">
                <a:moveTo>
                  <a:pt x="0" y="0"/>
                </a:moveTo>
                <a:lnTo>
                  <a:pt x="27455017" y="0"/>
                </a:lnTo>
                <a:lnTo>
                  <a:pt x="27455017" y="10021081"/>
                </a:lnTo>
                <a:lnTo>
                  <a:pt x="0" y="10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161320">
            <a:off x="-5537192" y="-43296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34481" y="3487351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91007" y="7752239"/>
            <a:ext cx="531072" cy="531072"/>
          </a:xfrm>
          <a:custGeom>
            <a:avLst/>
            <a:gdLst/>
            <a:ahLst/>
            <a:cxnLst/>
            <a:rect r="r" b="b" t="t" l="l"/>
            <a:pathLst>
              <a:path h="531072" w="531072">
                <a:moveTo>
                  <a:pt x="0" y="0"/>
                </a:moveTo>
                <a:lnTo>
                  <a:pt x="531072" y="0"/>
                </a:lnTo>
                <a:lnTo>
                  <a:pt x="531072" y="531072"/>
                </a:lnTo>
                <a:lnTo>
                  <a:pt x="0" y="5310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62871" y="7752239"/>
            <a:ext cx="531072" cy="531072"/>
          </a:xfrm>
          <a:custGeom>
            <a:avLst/>
            <a:gdLst/>
            <a:ahLst/>
            <a:cxnLst/>
            <a:rect r="r" b="b" t="t" l="l"/>
            <a:pathLst>
              <a:path h="531072" w="531072">
                <a:moveTo>
                  <a:pt x="0" y="0"/>
                </a:moveTo>
                <a:lnTo>
                  <a:pt x="531072" y="0"/>
                </a:lnTo>
                <a:lnTo>
                  <a:pt x="531072" y="531072"/>
                </a:lnTo>
                <a:lnTo>
                  <a:pt x="0" y="531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14923" y="7715250"/>
            <a:ext cx="568061" cy="568061"/>
          </a:xfrm>
          <a:custGeom>
            <a:avLst/>
            <a:gdLst/>
            <a:ahLst/>
            <a:cxnLst/>
            <a:rect r="r" b="b" t="t" l="l"/>
            <a:pathLst>
              <a:path h="568061" w="568061">
                <a:moveTo>
                  <a:pt x="0" y="0"/>
                </a:moveTo>
                <a:lnTo>
                  <a:pt x="568061" y="0"/>
                </a:lnTo>
                <a:lnTo>
                  <a:pt x="568061" y="568061"/>
                </a:lnTo>
                <a:lnTo>
                  <a:pt x="0" y="5680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05779" y="3661233"/>
            <a:ext cx="2493294" cy="30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thynk unlimited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5863" y="4411280"/>
            <a:ext cx="917627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Thank You!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55354" y="5607374"/>
            <a:ext cx="8436920" cy="83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Thank you for exploring the world of AI with us. For more information, please contact us 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13124" y="7838284"/>
            <a:ext cx="3455523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hello@reallygreatsite.com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36467" y="7838284"/>
            <a:ext cx="2159281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+123-456-7890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02059" y="7838284"/>
            <a:ext cx="3455523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DAG7vAKmNQ4</dc:identifier>
  <dcterms:modified xsi:type="dcterms:W3CDTF">2011-08-01T06:04:30Z</dcterms:modified>
  <cp:revision>1</cp:revision>
  <dc:title>Blue Purple Gradient Tech Futuristic Artificial Intelligence Presentation</dc:title>
</cp:coreProperties>
</file>